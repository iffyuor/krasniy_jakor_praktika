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5" r:id="rId8"/>
    <p:sldId id="266" r:id="rId9"/>
    <p:sldId id="267" r:id="rId10"/>
    <p:sldId id="268" r:id="rId11"/>
    <p:sldId id="264" r:id="rId12"/>
    <p:sldId id="26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0"/>
            <a:ext cx="2356674" cy="6853283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11" name="Freeform 27"/>
            <p:cNvSpPr/>
            <p:nvPr/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477795" y="150341"/>
            <a:ext cx="11615351" cy="2288059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Разработка базы данных для учёта производства фанеры АО «Красный якорь»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827770" y="2644346"/>
            <a:ext cx="10265376" cy="4213654"/>
          </a:xfrm>
        </p:spPr>
        <p:txBody>
          <a:bodyPr>
            <a:normAutofit/>
          </a:bodyPr>
          <a:lstStyle/>
          <a:p>
            <a:r>
              <a:rPr lang="ru-RU" b="1" dirty="0"/>
              <a:t>ПМ. 11. Разработка, администрирование и защита баз </a:t>
            </a:r>
            <a:r>
              <a:rPr lang="ru-RU" b="1" dirty="0" smtClean="0"/>
              <a:t>данных</a:t>
            </a:r>
            <a:endParaRPr lang="ru-RU" dirty="0" smtClean="0"/>
          </a:p>
          <a:p>
            <a:r>
              <a:rPr lang="ru-RU" dirty="0" smtClean="0"/>
              <a:t>Студент</a:t>
            </a:r>
            <a:r>
              <a:rPr lang="ru-RU" dirty="0"/>
              <a:t>: Кононов Тимофей Александрович</a:t>
            </a:r>
            <a:br>
              <a:rPr lang="ru-RU" dirty="0"/>
            </a:br>
            <a:r>
              <a:rPr lang="ru-RU" dirty="0"/>
              <a:t>Группа: 23П-1</a:t>
            </a:r>
            <a:br>
              <a:rPr lang="ru-RU" dirty="0"/>
            </a:br>
            <a:r>
              <a:rPr lang="ru-RU" dirty="0"/>
              <a:t>Специальность: 09.02.07 Информационные системы и </a:t>
            </a:r>
            <a:r>
              <a:rPr lang="ru-RU" dirty="0" smtClean="0"/>
              <a:t>программирование</a:t>
            </a:r>
            <a:endParaRPr lang="en-US" dirty="0" smtClean="0"/>
          </a:p>
          <a:p>
            <a:r>
              <a:rPr lang="ru-RU" dirty="0"/>
              <a:t/>
            </a:r>
            <a:br>
              <a:rPr lang="ru-RU" dirty="0"/>
            </a:br>
            <a:r>
              <a:rPr lang="ru-RU" dirty="0" smtClean="0"/>
              <a:t>Руководитель</a:t>
            </a:r>
            <a:r>
              <a:rPr lang="en-US" dirty="0" smtClean="0"/>
              <a:t> </a:t>
            </a:r>
            <a:r>
              <a:rPr lang="ru-RU" dirty="0" smtClean="0"/>
              <a:t>от колледжа: </a:t>
            </a:r>
            <a:r>
              <a:rPr lang="ru-RU" dirty="0"/>
              <a:t>Махнев Александр </a:t>
            </a:r>
            <a:r>
              <a:rPr lang="ru-RU" dirty="0" smtClean="0"/>
              <a:t>Анатольевич</a:t>
            </a:r>
          </a:p>
          <a:p>
            <a:r>
              <a:rPr lang="ru-RU" dirty="0" smtClean="0"/>
              <a:t>Руководитель от организации</a:t>
            </a:r>
            <a:r>
              <a:rPr lang="en-US" dirty="0" smtClean="0"/>
              <a:t>: </a:t>
            </a:r>
            <a:r>
              <a:rPr lang="ru-RU" dirty="0" smtClean="0"/>
              <a:t>Порошина Дарья Олеговна</a:t>
            </a:r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2025-2026 уч. год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441272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Цель и задачи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04109" y="1905000"/>
            <a:ext cx="8915400" cy="3777622"/>
          </a:xfrm>
        </p:spPr>
        <p:txBody>
          <a:bodyPr>
            <a:normAutofit lnSpcReduction="10000"/>
          </a:bodyPr>
          <a:lstStyle/>
          <a:p>
            <a:r>
              <a:rPr lang="ru-RU" b="1" dirty="0"/>
              <a:t>Цель:</a:t>
            </a:r>
            <a:r>
              <a:rPr lang="ru-RU" dirty="0"/>
              <a:t> Проектирование и разработка БД для автоматизации учёта производства фанеры.</a:t>
            </a:r>
          </a:p>
          <a:p>
            <a:r>
              <a:rPr lang="ru-RU" b="1" dirty="0"/>
              <a:t>Задачи:</a:t>
            </a:r>
            <a:endParaRPr lang="ru-RU" dirty="0"/>
          </a:p>
          <a:p>
            <a:r>
              <a:rPr lang="ru-RU" dirty="0"/>
              <a:t>Анализ и предварительная обработка информации</a:t>
            </a:r>
          </a:p>
          <a:p>
            <a:r>
              <a:rPr lang="ru-RU" dirty="0" smtClean="0"/>
              <a:t>Создание программного модуля</a:t>
            </a:r>
            <a:endParaRPr lang="ru-RU" dirty="0"/>
          </a:p>
          <a:p>
            <a:r>
              <a:rPr lang="ru-RU" dirty="0"/>
              <a:t>Проектирование и нормализация БД</a:t>
            </a:r>
          </a:p>
          <a:p>
            <a:r>
              <a:rPr lang="ru-RU" dirty="0"/>
              <a:t>Построение БД в MS SQL </a:t>
            </a:r>
            <a:r>
              <a:rPr lang="ru-RU" dirty="0" err="1"/>
              <a:t>Server</a:t>
            </a:r>
            <a:endParaRPr lang="ru-RU" dirty="0"/>
          </a:p>
          <a:p>
            <a:r>
              <a:rPr lang="ru-RU" dirty="0"/>
              <a:t>Реализация уровней доступа</a:t>
            </a:r>
          </a:p>
          <a:p>
            <a:r>
              <a:rPr lang="ru-RU" dirty="0"/>
              <a:t>Создание запросов и отчётов</a:t>
            </a:r>
          </a:p>
          <a:p>
            <a:r>
              <a:rPr lang="ru-RU" dirty="0"/>
              <a:t>Резервное копирование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63736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Актуальность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93579" y="1905000"/>
            <a:ext cx="8915400" cy="3777622"/>
          </a:xfrm>
        </p:spPr>
        <p:txBody>
          <a:bodyPr/>
          <a:lstStyle/>
          <a:p>
            <a:r>
              <a:rPr lang="ru-RU" b="1" dirty="0"/>
              <a:t>Проблемы на предприятии:</a:t>
            </a:r>
            <a:endParaRPr lang="ru-RU" dirty="0"/>
          </a:p>
          <a:p>
            <a:r>
              <a:rPr lang="ru-RU" dirty="0"/>
              <a:t>Бумажные журналы и разрозненные </a:t>
            </a:r>
            <a:r>
              <a:rPr lang="ru-RU" dirty="0" err="1"/>
              <a:t>Excel</a:t>
            </a:r>
            <a:r>
              <a:rPr lang="ru-RU" dirty="0"/>
              <a:t>-таблицы</a:t>
            </a:r>
          </a:p>
          <a:p>
            <a:r>
              <a:rPr lang="ru-RU" dirty="0"/>
              <a:t>Потеря данных</a:t>
            </a:r>
          </a:p>
          <a:p>
            <a:r>
              <a:rPr lang="ru-RU" dirty="0"/>
              <a:t>Низкая скорость обработки</a:t>
            </a:r>
          </a:p>
          <a:p>
            <a:r>
              <a:rPr lang="ru-RU" dirty="0"/>
              <a:t>Отсутствие разграничения доступа</a:t>
            </a:r>
          </a:p>
          <a:p>
            <a:r>
              <a:rPr lang="ru-RU" dirty="0"/>
              <a:t>Сложность формирования отчётности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67558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Объекты базы данных</a:t>
            </a:r>
            <a:br>
              <a:rPr lang="ru-RU" b="1" dirty="0"/>
            </a:br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4481338"/>
              </p:ext>
            </p:extLst>
          </p:nvPr>
        </p:nvGraphicFramePr>
        <p:xfrm>
          <a:off x="2592925" y="1898822"/>
          <a:ext cx="4512777" cy="3778250"/>
        </p:xfrm>
        <a:graphic>
          <a:graphicData uri="http://schemas.openxmlformats.org/drawingml/2006/table">
            <a:tbl>
              <a:tblPr/>
              <a:tblGrid>
                <a:gridCol w="1504259">
                  <a:extLst>
                    <a:ext uri="{9D8B030D-6E8A-4147-A177-3AD203B41FA5}">
                      <a16:colId xmlns:a16="http://schemas.microsoft.com/office/drawing/2014/main" val="2978455635"/>
                    </a:ext>
                  </a:extLst>
                </a:gridCol>
                <a:gridCol w="1504259">
                  <a:extLst>
                    <a:ext uri="{9D8B030D-6E8A-4147-A177-3AD203B41FA5}">
                      <a16:colId xmlns:a16="http://schemas.microsoft.com/office/drawing/2014/main" val="1935836732"/>
                    </a:ext>
                  </a:extLst>
                </a:gridCol>
                <a:gridCol w="1504259">
                  <a:extLst>
                    <a:ext uri="{9D8B030D-6E8A-4147-A177-3AD203B41FA5}">
                      <a16:colId xmlns:a16="http://schemas.microsoft.com/office/drawing/2014/main" val="3116421320"/>
                    </a:ext>
                  </a:extLst>
                </a:gridCol>
              </a:tblGrid>
              <a:tr h="292850">
                <a:tc>
                  <a:txBody>
                    <a:bodyPr/>
                    <a:lstStyle/>
                    <a:p>
                      <a:pPr algn="l"/>
                      <a:r>
                        <a:rPr lang="ru-RU" sz="1100" b="0">
                          <a:effectLst/>
                          <a:latin typeface="quote-cjk-patch"/>
                        </a:rPr>
                        <a:t>№</a:t>
                      </a:r>
                    </a:p>
                  </a:txBody>
                  <a:tcPr marL="57610" marR="96017" marT="60010" marB="60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0">
                          <a:effectLst/>
                          <a:latin typeface="quote-cjk-patch"/>
                        </a:rPr>
                        <a:t>Объект</a:t>
                      </a:r>
                    </a:p>
                  </a:txBody>
                  <a:tcPr marL="96017" marR="96017" marT="60010" marB="60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0">
                          <a:effectLst/>
                          <a:latin typeface="quote-cjk-patch"/>
                        </a:rPr>
                        <a:t>Назначение</a:t>
                      </a:r>
                    </a:p>
                  </a:txBody>
                  <a:tcPr marL="96017" marR="96017" marT="60010" marB="60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5640524"/>
                  </a:ext>
                </a:extLst>
              </a:tr>
              <a:tr h="465680">
                <a:tc>
                  <a:txBody>
                    <a:bodyPr/>
                    <a:lstStyle/>
                    <a:p>
                      <a:r>
                        <a:rPr lang="ru-RU" sz="1100" b="0">
                          <a:effectLst/>
                          <a:latin typeface="quote-cjk-patch"/>
                        </a:rPr>
                        <a:t>1</a:t>
                      </a:r>
                    </a:p>
                  </a:txBody>
                  <a:tcPr marL="57610" marR="96017" marT="60010" marB="60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effectLst/>
                          <a:latin typeface="quote-cjk-patch"/>
                        </a:rPr>
                        <a:t>LogBatch</a:t>
                      </a:r>
                    </a:p>
                  </a:txBody>
                  <a:tcPr marL="96017" marR="96017" marT="60010" marB="60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0" dirty="0" smtClean="0">
                          <a:effectLst/>
                          <a:latin typeface="quote-cjk-patch"/>
                        </a:rPr>
                        <a:t>Партии</a:t>
                      </a:r>
                      <a:r>
                        <a:rPr lang="ru-RU" sz="1100" b="0" baseline="0" dirty="0" smtClean="0">
                          <a:effectLst/>
                          <a:latin typeface="quote-cjk-patch"/>
                        </a:rPr>
                        <a:t> брёвен</a:t>
                      </a: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96017" marR="57610" marT="60010" marB="60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018388"/>
                  </a:ext>
                </a:extLst>
              </a:tr>
              <a:tr h="465680">
                <a:tc>
                  <a:txBody>
                    <a:bodyPr/>
                    <a:lstStyle/>
                    <a:p>
                      <a:r>
                        <a:rPr lang="ru-RU" sz="1100" b="0">
                          <a:effectLst/>
                          <a:latin typeface="quote-cjk-patch"/>
                        </a:rPr>
                        <a:t>2</a:t>
                      </a:r>
                    </a:p>
                  </a:txBody>
                  <a:tcPr marL="57610" marR="96017" marT="60010" marB="60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effectLst/>
                          <a:latin typeface="quote-cjk-patch"/>
                        </a:rPr>
                        <a:t>VeneerBatch</a:t>
                      </a:r>
                    </a:p>
                  </a:txBody>
                  <a:tcPr marL="96017" marR="96017" marT="60010" marB="60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0">
                          <a:effectLst/>
                          <a:latin typeface="quote-cjk-patch"/>
                        </a:rPr>
                        <a:t>Учёт производства шпона</a:t>
                      </a:r>
                    </a:p>
                  </a:txBody>
                  <a:tcPr marL="96017" marR="57610" marT="60010" marB="60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1067699"/>
                  </a:ext>
                </a:extLst>
              </a:tr>
              <a:tr h="465680">
                <a:tc>
                  <a:txBody>
                    <a:bodyPr/>
                    <a:lstStyle/>
                    <a:p>
                      <a:r>
                        <a:rPr lang="ru-RU" sz="1100" b="0">
                          <a:effectLst/>
                          <a:latin typeface="quote-cjk-patch"/>
                        </a:rPr>
                        <a:t>3</a:t>
                      </a:r>
                    </a:p>
                  </a:txBody>
                  <a:tcPr marL="57610" marR="96017" marT="60010" marB="60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effectLst/>
                          <a:latin typeface="quote-cjk-patch"/>
                        </a:rPr>
                        <a:t>SemiFinishedBatch</a:t>
                      </a:r>
                    </a:p>
                  </a:txBody>
                  <a:tcPr marL="96017" marR="96017" marT="60010" marB="60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0">
                          <a:effectLst/>
                          <a:latin typeface="quote-cjk-patch"/>
                        </a:rPr>
                        <a:t>Учёт полуфабриката</a:t>
                      </a:r>
                    </a:p>
                  </a:txBody>
                  <a:tcPr marL="96017" marR="57610" marT="60010" marB="60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1063755"/>
                  </a:ext>
                </a:extLst>
              </a:tr>
              <a:tr h="465680">
                <a:tc>
                  <a:txBody>
                    <a:bodyPr/>
                    <a:lstStyle/>
                    <a:p>
                      <a:r>
                        <a:rPr lang="ru-RU" sz="1100" b="0">
                          <a:effectLst/>
                          <a:latin typeface="quote-cjk-patch"/>
                        </a:rPr>
                        <a:t>4</a:t>
                      </a:r>
                    </a:p>
                  </a:txBody>
                  <a:tcPr marL="57610" marR="96017" marT="60010" marB="60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effectLst/>
                          <a:latin typeface="quote-cjk-patch"/>
                        </a:rPr>
                        <a:t>FinishedBatch</a:t>
                      </a:r>
                    </a:p>
                  </a:txBody>
                  <a:tcPr marL="96017" marR="96017" marT="60010" marB="60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0">
                          <a:effectLst/>
                          <a:latin typeface="quote-cjk-patch"/>
                        </a:rPr>
                        <a:t>Учёт готовой фанеры</a:t>
                      </a:r>
                    </a:p>
                  </a:txBody>
                  <a:tcPr marL="96017" marR="57610" marT="60010" marB="60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1535514"/>
                  </a:ext>
                </a:extLst>
              </a:tr>
              <a:tr h="811340">
                <a:tc>
                  <a:txBody>
                    <a:bodyPr/>
                    <a:lstStyle/>
                    <a:p>
                      <a:r>
                        <a:rPr lang="ru-RU" sz="1100" b="0">
                          <a:effectLst/>
                          <a:latin typeface="quote-cjk-patch"/>
                        </a:rPr>
                        <a:t>5-8</a:t>
                      </a:r>
                    </a:p>
                  </a:txBody>
                  <a:tcPr marL="57610" marR="96017" marT="60010" marB="60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 dirty="0" err="1">
                          <a:effectLst/>
                          <a:latin typeface="quote-cjk-patch"/>
                        </a:rPr>
                        <a:t>TimberType</a:t>
                      </a:r>
                      <a:r>
                        <a:rPr lang="en-US" sz="1100" b="0" dirty="0">
                          <a:effectLst/>
                          <a:latin typeface="quote-cjk-patch"/>
                        </a:rPr>
                        <a:t>, Supplier, </a:t>
                      </a:r>
                      <a:r>
                        <a:rPr lang="en-US" sz="1100" b="0" dirty="0" err="1">
                          <a:effectLst/>
                          <a:latin typeface="quote-cjk-patch"/>
                        </a:rPr>
                        <a:t>ProductGrade</a:t>
                      </a:r>
                      <a:r>
                        <a:rPr lang="en-US" sz="1100" b="0" dirty="0">
                          <a:effectLst/>
                          <a:latin typeface="quote-cjk-patch"/>
                        </a:rPr>
                        <a:t>, </a:t>
                      </a:r>
                      <a:r>
                        <a:rPr lang="en-US" sz="1100" b="0" dirty="0" err="1">
                          <a:effectLst/>
                          <a:latin typeface="quote-cjk-patch"/>
                        </a:rPr>
                        <a:t>DefectType</a:t>
                      </a:r>
                      <a:endParaRPr lang="en-US" sz="1100" b="0" dirty="0">
                        <a:effectLst/>
                        <a:latin typeface="quote-cjk-patch"/>
                      </a:endParaRPr>
                    </a:p>
                  </a:txBody>
                  <a:tcPr marL="96017" marR="96017" marT="60010" marB="60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  <a:latin typeface="quote-cjk-patch"/>
                        </a:rPr>
                        <a:t>Справочники</a:t>
                      </a:r>
                    </a:p>
                  </a:txBody>
                  <a:tcPr marL="96017" marR="57610" marT="60010" marB="60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9127959"/>
                  </a:ext>
                </a:extLst>
              </a:tr>
              <a:tr h="811340">
                <a:tc>
                  <a:txBody>
                    <a:bodyPr/>
                    <a:lstStyle/>
                    <a:p>
                      <a:r>
                        <a:rPr lang="ru-RU" sz="1100" b="0">
                          <a:effectLst/>
                          <a:latin typeface="quote-cjk-patch"/>
                        </a:rPr>
                        <a:t>9-14</a:t>
                      </a:r>
                    </a:p>
                  </a:txBody>
                  <a:tcPr marL="57610" marR="96017" marT="60010" marB="60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effectLst/>
                          <a:latin typeface="quote-cjk-patch"/>
                        </a:rPr>
                        <a:t>Unit, Role, Employee, AppUser, ProductionFlow, StockBalance</a:t>
                      </a:r>
                    </a:p>
                  </a:txBody>
                  <a:tcPr marL="96017" marR="96017" marT="60010" marB="60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0" dirty="0">
                          <a:effectLst/>
                          <a:latin typeface="quote-cjk-patch"/>
                        </a:rPr>
                        <a:t>Служебные</a:t>
                      </a:r>
                    </a:p>
                  </a:txBody>
                  <a:tcPr marL="96017" marR="57610" marT="60010" marB="600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09852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7305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Концептуальная модель (</a:t>
            </a:r>
            <a:r>
              <a:rPr lang="en-US" b="1" dirty="0"/>
              <a:t>ER-</a:t>
            </a:r>
            <a:r>
              <a:rPr lang="ru-RU" b="1" dirty="0"/>
              <a:t>диаграмма)</a:t>
            </a:r>
            <a:br>
              <a:rPr lang="ru-RU" b="1" dirty="0"/>
            </a:br>
            <a:endParaRPr lang="ru-RU" dirty="0"/>
          </a:p>
        </p:txBody>
      </p:sp>
      <p:pic>
        <p:nvPicPr>
          <p:cNvPr id="4" name="Объект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2924" y="1532238"/>
            <a:ext cx="7556091" cy="4959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4489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Ролевая модель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1186101"/>
              </p:ext>
            </p:extLst>
          </p:nvPr>
        </p:nvGraphicFramePr>
        <p:xfrm>
          <a:off x="2427546" y="2284438"/>
          <a:ext cx="7162800" cy="3147060"/>
        </p:xfrm>
        <a:graphic>
          <a:graphicData uri="http://schemas.openxmlformats.org/drawingml/2006/table">
            <a:tbl>
              <a:tblPr/>
              <a:tblGrid>
                <a:gridCol w="3581400">
                  <a:extLst>
                    <a:ext uri="{9D8B030D-6E8A-4147-A177-3AD203B41FA5}">
                      <a16:colId xmlns:a16="http://schemas.microsoft.com/office/drawing/2014/main" val="1607956626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2291643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b="0">
                          <a:effectLst/>
                          <a:latin typeface="quote-cjk-patch"/>
                        </a:rPr>
                        <a:t>Роль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>
                          <a:effectLst/>
                          <a:latin typeface="quote-cjk-patch"/>
                        </a:rPr>
                        <a:t>Описание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902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quote-cjk-patch"/>
                        </a:rPr>
                        <a:t>Admin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quote-cjk-patch"/>
                        </a:rPr>
                        <a:t>Полный доступ к данным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4335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quote-cjk-patch"/>
                        </a:rPr>
                        <a:t>Technologist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quote-cjk-patch"/>
                        </a:rPr>
                        <a:t>Управление оборудованием, планом производства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54233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quote-cjk-patch"/>
                        </a:rPr>
                        <a:t>Operator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quote-cjk-patch"/>
                        </a:rPr>
                        <a:t>Бревно → шпон → полуфабрикат → фанера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953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quote-cjk-patch"/>
                        </a:rPr>
                        <a:t>Storekeeper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quote-cjk-patch"/>
                        </a:rPr>
                        <a:t>Учёт складских остатков, заказ брёвен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69289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90704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Окно Администратора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79395" y="1491049"/>
            <a:ext cx="8915400" cy="3777622"/>
          </a:xfrm>
        </p:spPr>
        <p:txBody>
          <a:bodyPr/>
          <a:lstStyle/>
          <a:p>
            <a:r>
              <a:rPr lang="ru-RU" b="1" dirty="0"/>
              <a:t>Функции:</a:t>
            </a:r>
            <a:endParaRPr lang="ru-RU" dirty="0"/>
          </a:p>
          <a:p>
            <a:r>
              <a:rPr lang="ru-RU" dirty="0"/>
              <a:t>Управление пользователями (добавление, редактирование, удаление)</a:t>
            </a:r>
          </a:p>
          <a:p>
            <a:r>
              <a:rPr lang="ru-RU" dirty="0"/>
              <a:t>Управление ролями</a:t>
            </a:r>
          </a:p>
          <a:p>
            <a:r>
              <a:rPr lang="ru-RU" dirty="0"/>
              <a:t>Резервное копирование базы данных</a:t>
            </a:r>
          </a:p>
          <a:p>
            <a:r>
              <a:rPr lang="ru-RU" dirty="0"/>
              <a:t>Просмотр отчётов</a:t>
            </a:r>
          </a:p>
          <a:p>
            <a:endParaRPr lang="ru-RU" dirty="0"/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1387603" y="3730891"/>
            <a:ext cx="5940425" cy="2493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7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Окно Технолога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60628" y="1804087"/>
            <a:ext cx="8915400" cy="3777622"/>
          </a:xfrm>
        </p:spPr>
        <p:txBody>
          <a:bodyPr/>
          <a:lstStyle/>
          <a:p>
            <a:r>
              <a:rPr lang="ru-RU" b="1" dirty="0"/>
              <a:t>Функции:</a:t>
            </a:r>
            <a:endParaRPr lang="ru-RU" dirty="0"/>
          </a:p>
          <a:p>
            <a:r>
              <a:rPr lang="ru-RU" dirty="0"/>
              <a:t>Проверка состояния оборудования (15 станков)</a:t>
            </a:r>
          </a:p>
          <a:p>
            <a:r>
              <a:rPr lang="ru-RU" dirty="0"/>
              <a:t>Фиксация поломок и ремонтов</a:t>
            </a:r>
          </a:p>
          <a:p>
            <a:r>
              <a:rPr lang="ru-RU" dirty="0"/>
              <a:t>Установка плана производства</a:t>
            </a:r>
          </a:p>
          <a:p>
            <a:r>
              <a:rPr lang="ru-RU" dirty="0"/>
              <a:t>Просмотр истории партий</a:t>
            </a:r>
          </a:p>
          <a:p>
            <a:endParaRPr lang="ru-RU" dirty="0"/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5918328" y="2845418"/>
            <a:ext cx="5940425" cy="3622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8388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Окно Оператора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43937" y="1659925"/>
            <a:ext cx="8915400" cy="3777622"/>
          </a:xfrm>
        </p:spPr>
        <p:txBody>
          <a:bodyPr/>
          <a:lstStyle/>
          <a:p>
            <a:r>
              <a:rPr lang="ru-RU" b="1" dirty="0"/>
              <a:t>Функции:</a:t>
            </a:r>
            <a:endParaRPr lang="ru-RU" dirty="0"/>
          </a:p>
          <a:p>
            <a:r>
              <a:rPr lang="ru-RU" dirty="0"/>
              <a:t>Цех 1: переработка бревна в шпон</a:t>
            </a:r>
          </a:p>
          <a:p>
            <a:r>
              <a:rPr lang="ru-RU" dirty="0"/>
              <a:t>Цех 2: переработка шпона в полуфабрикат</a:t>
            </a:r>
          </a:p>
          <a:p>
            <a:r>
              <a:rPr lang="ru-RU" dirty="0"/>
              <a:t>Цех 3: переработка полуфабриката в фанеру</a:t>
            </a:r>
          </a:p>
          <a:p>
            <a:r>
              <a:rPr lang="ru-RU" dirty="0"/>
              <a:t>Отгрузка готовой продукции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211" y="3273620"/>
            <a:ext cx="5857102" cy="3299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063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Окно Кладовщика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93364" y="1583697"/>
            <a:ext cx="8915400" cy="3777622"/>
          </a:xfrm>
        </p:spPr>
        <p:txBody>
          <a:bodyPr/>
          <a:lstStyle/>
          <a:p>
            <a:r>
              <a:rPr lang="ru-RU" b="1" dirty="0"/>
              <a:t>Функции:</a:t>
            </a:r>
            <a:endParaRPr lang="ru-RU" dirty="0"/>
          </a:p>
          <a:p>
            <a:r>
              <a:rPr lang="ru-RU" dirty="0"/>
              <a:t>Заказ брёвен у поставщиков</a:t>
            </a:r>
          </a:p>
          <a:p>
            <a:r>
              <a:rPr lang="ru-RU" dirty="0"/>
              <a:t>Просмотр остатков на складе</a:t>
            </a:r>
          </a:p>
          <a:p>
            <a:endParaRPr lang="ru-RU" dirty="0"/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5564187" y="2193297"/>
            <a:ext cx="5940425" cy="4327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8678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25660" y="484067"/>
            <a:ext cx="8911687" cy="1280890"/>
          </a:xfrm>
        </p:spPr>
        <p:txBody>
          <a:bodyPr/>
          <a:lstStyle/>
          <a:p>
            <a:r>
              <a:rPr lang="ru-RU" dirty="0"/>
              <a:t>Создано </a:t>
            </a:r>
            <a:r>
              <a:rPr lang="ru-RU" b="1" dirty="0"/>
              <a:t> 8 резервных копий</a:t>
            </a:r>
            <a:r>
              <a:rPr lang="ru-RU" dirty="0"/>
              <a:t> за период практики</a:t>
            </a:r>
            <a:endParaRPr lang="ru-RU" dirty="0"/>
          </a:p>
        </p:txBody>
      </p:sp>
      <p:pic>
        <p:nvPicPr>
          <p:cNvPr id="4" name="Объект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5660" y="2145786"/>
            <a:ext cx="6076950" cy="180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1053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Заключение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71374" y="2075935"/>
            <a:ext cx="8915400" cy="3777622"/>
          </a:xfrm>
        </p:spPr>
        <p:txBody>
          <a:bodyPr/>
          <a:lstStyle/>
          <a:p>
            <a:r>
              <a:rPr lang="ru-RU" b="1" dirty="0"/>
              <a:t>Выполненные задачи:</a:t>
            </a:r>
            <a:endParaRPr lang="ru-RU" dirty="0"/>
          </a:p>
          <a:p>
            <a:r>
              <a:rPr lang="ru-RU" dirty="0"/>
              <a:t>Анализ предметной области</a:t>
            </a:r>
          </a:p>
          <a:p>
            <a:r>
              <a:rPr lang="ru-RU" dirty="0"/>
              <a:t>Выделение 14 сущностей и 60+ атрибутов</a:t>
            </a:r>
          </a:p>
          <a:p>
            <a:r>
              <a:rPr lang="ru-RU" dirty="0"/>
              <a:t>Проектирование БД в 3НФ</a:t>
            </a:r>
          </a:p>
          <a:p>
            <a:r>
              <a:rPr lang="ru-RU" dirty="0"/>
              <a:t>Реализация БД в MS SQL </a:t>
            </a:r>
            <a:r>
              <a:rPr lang="ru-RU" dirty="0" err="1"/>
              <a:t>Server</a:t>
            </a:r>
            <a:endParaRPr lang="ru-RU" dirty="0"/>
          </a:p>
          <a:p>
            <a:r>
              <a:rPr lang="ru-RU" dirty="0"/>
              <a:t>Ролевая модель (4 роли)</a:t>
            </a:r>
          </a:p>
          <a:p>
            <a:r>
              <a:rPr lang="ru-RU" dirty="0"/>
              <a:t>Запросы и отчёты</a:t>
            </a:r>
          </a:p>
          <a:p>
            <a:r>
              <a:rPr lang="ru-RU" dirty="0"/>
              <a:t>8 резервных копий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26641483"/>
      </p:ext>
    </p:extLst>
  </p:cSld>
  <p:clrMapOvr>
    <a:masterClrMapping/>
  </p:clrMapOvr>
</p:sld>
</file>

<file path=ppt/theme/theme1.xml><?xml version="1.0" encoding="utf-8"?>
<a:theme xmlns:a="http://schemas.openxmlformats.org/drawingml/2006/main" name="Легкий дым">
  <a:themeElements>
    <a:clrScheme name="Wisp">
      <a:dk1>
        <a:sysClr val="windowText" lastClr="000000"/>
      </a:dk1>
      <a:lt1>
        <a:sysClr val="window" lastClr="FFFFFF"/>
      </a:lt1>
      <a:dk2>
        <a:srgbClr val="2C333A"/>
      </a:dk2>
      <a:lt2>
        <a:srgbClr val="D6ECED"/>
      </a:lt2>
      <a:accent1>
        <a:srgbClr val="DE32DE"/>
      </a:accent1>
      <a:accent2>
        <a:srgbClr val="F42B8A"/>
      </a:accent2>
      <a:accent3>
        <a:srgbClr val="349FE7"/>
      </a:accent3>
      <a:accent4>
        <a:srgbClr val="565FF8"/>
      </a:accent4>
      <a:accent5>
        <a:srgbClr val="876BE7"/>
      </a:accent5>
      <a:accent6>
        <a:srgbClr val="F268C2"/>
      </a:accent6>
      <a:hlink>
        <a:srgbClr val="F55CF9"/>
      </a:hlink>
      <a:folHlink>
        <a:srgbClr val="E8A0EE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F20B7C8E-B819-43F3-AAF9-EE50B1A836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65</TotalTime>
  <Words>343</Words>
  <Application>Microsoft Office PowerPoint</Application>
  <PresentationFormat>Широкоэкранный</PresentationFormat>
  <Paragraphs>91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Arial</vt:lpstr>
      <vt:lpstr>Century Gothic</vt:lpstr>
      <vt:lpstr>quote-cjk-patch</vt:lpstr>
      <vt:lpstr>Wingdings 3</vt:lpstr>
      <vt:lpstr>Легкий дым</vt:lpstr>
      <vt:lpstr>Разработка базы данных для учёта производства фанеры АО «Красный якорь»</vt:lpstr>
      <vt:lpstr>Цель и задачи </vt:lpstr>
      <vt:lpstr>Актуальность </vt:lpstr>
      <vt:lpstr>Объекты базы данных </vt:lpstr>
      <vt:lpstr>Концептуальная модель (ER-диаграмма) </vt:lpstr>
      <vt:lpstr>Ролевая модель</vt:lpstr>
      <vt:lpstr>Окно Администратора</vt:lpstr>
      <vt:lpstr>Окно Технолога </vt:lpstr>
      <vt:lpstr>Окно Оператора </vt:lpstr>
      <vt:lpstr>Окно Кладовщика </vt:lpstr>
      <vt:lpstr>Создано  8 резервных копий за период практики</vt:lpstr>
      <vt:lpstr>Заключение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базы данных для учёта производства фанеры АО «Красный якорь»</dc:title>
  <dc:creator>Tim Ko</dc:creator>
  <cp:lastModifiedBy>Tim Ko</cp:lastModifiedBy>
  <cp:revision>10</cp:revision>
  <dcterms:created xsi:type="dcterms:W3CDTF">2026-05-26T08:50:17Z</dcterms:created>
  <dcterms:modified xsi:type="dcterms:W3CDTF">2026-05-26T09:55:47Z</dcterms:modified>
</cp:coreProperties>
</file>